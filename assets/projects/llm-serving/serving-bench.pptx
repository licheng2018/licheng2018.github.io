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9" r:id="rId4"/>
    <p:sldId id="260" r:id="rId5"/>
    <p:sldId id="263" r:id="rId6"/>
    <p:sldId id="264" r:id="rId7"/>
    <p:sldId id="265" r:id="rId8"/>
    <p:sldId id="269" r:id="rId9"/>
    <p:sldId id="270" r:id="rId10"/>
    <p:sldId id="268" r:id="rId11"/>
    <p:sldId id="271" r:id="rId12"/>
    <p:sldId id="273" r:id="rId13"/>
    <p:sldId id="272" r:id="rId14"/>
    <p:sldId id="274" r:id="rId15"/>
    <p:sldId id="275" r:id="rId16"/>
    <p:sldId id="276"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5"/>
    <p:restoredTop sz="94638"/>
  </p:normalViewPr>
  <p:slideViewPr>
    <p:cSldViewPr snapToGrid="0">
      <p:cViewPr varScale="1">
        <p:scale>
          <a:sx n="133" d="100"/>
          <a:sy n="133"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245D-F88B-A964-40DE-5C916F9779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70F896-C5F5-A7B2-5AFF-39D47989EB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48B2CF-221D-7D98-4348-E3A495CF1507}"/>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AA6790DE-6659-27E8-475D-8D98876C32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BF50C-DB0C-0137-8879-77BB18665387}"/>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3040006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5AE7-0657-E178-4C2E-CCED09BB5B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8E777-D7D6-358A-86A1-A9B79B7D4F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05367-3E14-C0CA-7F01-498BE08199C9}"/>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2144E0F2-B662-7B03-0DB0-6350785EE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9F9DC-A5E4-53C2-2271-AF6743A46EE9}"/>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420093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7B3C-3EF4-D81A-B82C-6574F3D4CC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4C8B1E-E734-2EA5-1187-3518B282D1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09FC4B-0B91-E878-D24C-03D80F5CCD77}"/>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1D5029C2-666B-4146-3DE5-E7E7A27E5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2E49E-34B1-69FE-3DCD-4041AAB03FB2}"/>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1397087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E575-7C32-AF0C-FFD7-3778328D47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F8B2C-4398-84B4-560D-343BAF024F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BCDEFE-9AD4-FE26-FF06-FC4ACABBD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E1D579-01D4-E3EB-037F-AFFC27CC61BB}"/>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6" name="Footer Placeholder 5">
            <a:extLst>
              <a:ext uri="{FF2B5EF4-FFF2-40B4-BE49-F238E27FC236}">
                <a16:creationId xmlns:a16="http://schemas.microsoft.com/office/drawing/2014/main" id="{D0A11883-897C-833D-A130-7ACA2ED15D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6ED79-B57B-06F3-0D1C-5DF130084AEB}"/>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124385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6550C-B6DA-785A-33A5-530073214D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F0EE57-D1A8-6E8E-B8C6-2D4F0A2531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79E127-2CA4-D9F5-8E4A-0098AD087D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A3CC96-B0F6-4D3F-E601-54B9B9C1EA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9AA7EA-862F-97D6-1C03-616A3988D1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E84825-AA9C-32D0-9AA2-82B79E00A256}"/>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8" name="Footer Placeholder 7">
            <a:extLst>
              <a:ext uri="{FF2B5EF4-FFF2-40B4-BE49-F238E27FC236}">
                <a16:creationId xmlns:a16="http://schemas.microsoft.com/office/drawing/2014/main" id="{7F168965-AC4B-C0C7-8092-AE70FD2CC4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732CD1-5761-6D9F-1225-822BE7187659}"/>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3662961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01174-16F6-930B-6EE6-2BA9F8724D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755310-A063-5025-03E2-09F1860E92A9}"/>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4" name="Footer Placeholder 3">
            <a:extLst>
              <a:ext uri="{FF2B5EF4-FFF2-40B4-BE49-F238E27FC236}">
                <a16:creationId xmlns:a16="http://schemas.microsoft.com/office/drawing/2014/main" id="{3CC26E7F-68D0-D31F-81A9-5855D6BBD4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99008-9334-5951-D7C8-F5E168C92027}"/>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457985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8DE403-649F-6B8B-D436-ADC8C822FA5F}"/>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3" name="Footer Placeholder 2">
            <a:extLst>
              <a:ext uri="{FF2B5EF4-FFF2-40B4-BE49-F238E27FC236}">
                <a16:creationId xmlns:a16="http://schemas.microsoft.com/office/drawing/2014/main" id="{4ECDFB2D-B8EF-FE3E-EE83-8B044FAE40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017024-589C-A9CD-DB30-021FFA696B4F}"/>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2393769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E9CB-9BEC-77A9-AFF9-5938096FC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56F7B3-D30E-81A8-6801-5ABC531C9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2F48F8-1116-9784-542B-5428E3801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350981-C19F-5FAE-4778-5542732FFA2C}"/>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6" name="Footer Placeholder 5">
            <a:extLst>
              <a:ext uri="{FF2B5EF4-FFF2-40B4-BE49-F238E27FC236}">
                <a16:creationId xmlns:a16="http://schemas.microsoft.com/office/drawing/2014/main" id="{1BA58AE1-F79A-AE80-C7A6-ACA9F787D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942F9-691B-7FD2-52B4-6CFB81803727}"/>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10998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E425-53E4-01D0-8F55-C3C424388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2D96B5-05CF-15B3-F1D9-2E8828B338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85C9B7-BA1F-2635-B453-0D7E39CB66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DED77C-C892-2662-F1A2-8481D497E403}"/>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6" name="Footer Placeholder 5">
            <a:extLst>
              <a:ext uri="{FF2B5EF4-FFF2-40B4-BE49-F238E27FC236}">
                <a16:creationId xmlns:a16="http://schemas.microsoft.com/office/drawing/2014/main" id="{46EE539A-8DC8-371A-D854-BC2E7D3A4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D45272-3E73-5E37-1CE8-B44B1213CBC1}"/>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3463122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8E29-1CCC-827D-DF4A-7617F52E43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2B3E29-8404-0296-E258-B03A45BE57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7906F-7C78-7673-D7A9-BC82260944DF}"/>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8A88FFA7-D7A6-6C20-E934-E8ADA31BE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4D63F-86F3-EBC7-47C7-53FD8AEB43B4}"/>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109269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FE808-ACB2-3460-B169-0FA3383537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0584EE-9029-40A1-6462-3E927302E6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243C3D-D161-F07F-BFB9-B30771EE08B0}"/>
              </a:ext>
            </a:extLst>
          </p:cNvPr>
          <p:cNvSpPr>
            <a:spLocks noGrp="1"/>
          </p:cNvSpPr>
          <p:nvPr>
            <p:ph type="dt" sz="half" idx="10"/>
          </p:nvPr>
        </p:nvSpPr>
        <p:spPr/>
        <p:txBody>
          <a:body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F1613C19-848E-2AE2-F285-F25FAF8ABF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CE4B4C-7755-B99C-613C-CF79557DE38B}"/>
              </a:ext>
            </a:extLst>
          </p:cNvPr>
          <p:cNvSpPr>
            <a:spLocks noGrp="1"/>
          </p:cNvSpPr>
          <p:nvPr>
            <p:ph type="sldNum" sz="quarter" idx="12"/>
          </p:nvPr>
        </p:nvSpPr>
        <p:spPr/>
        <p:txBody>
          <a:bodyPr/>
          <a:lstStyle/>
          <a:p>
            <a:fld id="{5BC2D31D-D8C1-F046-8A6C-6045D5879F73}" type="slidenum">
              <a:rPr lang="en-US" smtClean="0"/>
              <a:t>‹#›</a:t>
            </a:fld>
            <a:endParaRPr lang="en-US"/>
          </a:p>
        </p:txBody>
      </p:sp>
    </p:spTree>
    <p:extLst>
      <p:ext uri="{BB962C8B-B14F-4D97-AF65-F5344CB8AC3E}">
        <p14:creationId xmlns:p14="http://schemas.microsoft.com/office/powerpoint/2010/main" val="1729555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96A73D-237C-E9AF-02E6-B76231783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ABC0FA-7E35-5FC1-C858-C92592A4D5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0DA13-4799-AE41-A537-ED735230F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2D1274-82B7-944A-9B18-7B56496AB373}" type="datetimeFigureOut">
              <a:rPr lang="en-US" smtClean="0"/>
              <a:t>6/17/26</a:t>
            </a:fld>
            <a:endParaRPr lang="en-US"/>
          </a:p>
        </p:txBody>
      </p:sp>
      <p:sp>
        <p:nvSpPr>
          <p:cNvPr id="5" name="Footer Placeholder 4">
            <a:extLst>
              <a:ext uri="{FF2B5EF4-FFF2-40B4-BE49-F238E27FC236}">
                <a16:creationId xmlns:a16="http://schemas.microsoft.com/office/drawing/2014/main" id="{08081B1D-20C5-3586-3E5A-92647D96D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07FB5E-32C5-5568-52E6-3074A6A0DA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C2D31D-D8C1-F046-8A6C-6045D5879F73}" type="slidenum">
              <a:rPr lang="en-US" smtClean="0"/>
              <a:t>‹#›</a:t>
            </a:fld>
            <a:endParaRPr lang="en-US"/>
          </a:p>
        </p:txBody>
      </p:sp>
    </p:spTree>
    <p:extLst>
      <p:ext uri="{BB962C8B-B14F-4D97-AF65-F5344CB8AC3E}">
        <p14:creationId xmlns:p14="http://schemas.microsoft.com/office/powerpoint/2010/main" val="3303672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9ECA1-C9D8-D9DC-7177-81A80986E0BB}"/>
              </a:ext>
            </a:extLst>
          </p:cNvPr>
          <p:cNvSpPr>
            <a:spLocks noGrp="1"/>
          </p:cNvSpPr>
          <p:nvPr>
            <p:ph type="ctrTitle"/>
          </p:nvPr>
        </p:nvSpPr>
        <p:spPr/>
        <p:txBody>
          <a:bodyPr/>
          <a:lstStyle/>
          <a:p>
            <a:r>
              <a:rPr lang="en-US" b="1" dirty="0"/>
              <a:t>Benchmarking</a:t>
            </a:r>
            <a:endParaRPr lang="en-US" dirty="0"/>
          </a:p>
        </p:txBody>
      </p:sp>
      <p:sp>
        <p:nvSpPr>
          <p:cNvPr id="3" name="Subtitle 2">
            <a:extLst>
              <a:ext uri="{FF2B5EF4-FFF2-40B4-BE49-F238E27FC236}">
                <a16:creationId xmlns:a16="http://schemas.microsoft.com/office/drawing/2014/main" id="{82D99827-70F3-8BE4-7749-BD609C1CF8D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65445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3025-B31A-0B5B-FFDC-F70D6CA809A5}"/>
              </a:ext>
            </a:extLst>
          </p:cNvPr>
          <p:cNvSpPr>
            <a:spLocks noGrp="1"/>
          </p:cNvSpPr>
          <p:nvPr>
            <p:ph type="title"/>
          </p:nvPr>
        </p:nvSpPr>
        <p:spPr>
          <a:xfrm>
            <a:off x="0" y="0"/>
            <a:ext cx="10515600" cy="856648"/>
          </a:xfrm>
        </p:spPr>
        <p:txBody>
          <a:bodyPr/>
          <a:lstStyle/>
          <a:p>
            <a:r>
              <a:rPr lang="en-US" dirty="0"/>
              <a:t>LLM</a:t>
            </a:r>
            <a:r>
              <a:rPr lang="zh-CN" altLang="en-US" dirty="0"/>
              <a:t> </a:t>
            </a:r>
            <a:r>
              <a:rPr lang="en-US" altLang="zh-CN" dirty="0"/>
              <a:t>Pipeline</a:t>
            </a:r>
            <a:endParaRPr lang="en-US" dirty="0"/>
          </a:p>
        </p:txBody>
      </p:sp>
      <p:pic>
        <p:nvPicPr>
          <p:cNvPr id="5" name="Picture 4">
            <a:extLst>
              <a:ext uri="{FF2B5EF4-FFF2-40B4-BE49-F238E27FC236}">
                <a16:creationId xmlns:a16="http://schemas.microsoft.com/office/drawing/2014/main" id="{530EBF14-49A6-621B-3D4C-433384C6F6D4}"/>
              </a:ext>
            </a:extLst>
          </p:cNvPr>
          <p:cNvPicPr>
            <a:picLocks noChangeAspect="1"/>
          </p:cNvPicPr>
          <p:nvPr/>
        </p:nvPicPr>
        <p:blipFill>
          <a:blip r:embed="rId2"/>
          <a:stretch>
            <a:fillRect/>
          </a:stretch>
        </p:blipFill>
        <p:spPr>
          <a:xfrm>
            <a:off x="1488270" y="1100021"/>
            <a:ext cx="8695695" cy="2162944"/>
          </a:xfrm>
          <a:prstGeom prst="rect">
            <a:avLst/>
          </a:prstGeom>
        </p:spPr>
      </p:pic>
    </p:spTree>
    <p:extLst>
      <p:ext uri="{BB962C8B-B14F-4D97-AF65-F5344CB8AC3E}">
        <p14:creationId xmlns:p14="http://schemas.microsoft.com/office/powerpoint/2010/main" val="3083924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22EE8-EBD7-7D12-E16B-DF12872E3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4FD75-9CFA-2D89-61CC-24940C161260}"/>
              </a:ext>
            </a:extLst>
          </p:cNvPr>
          <p:cNvSpPr>
            <a:spLocks noGrp="1"/>
          </p:cNvSpPr>
          <p:nvPr>
            <p:ph type="title"/>
          </p:nvPr>
        </p:nvSpPr>
        <p:spPr>
          <a:xfrm>
            <a:off x="232144" y="18255"/>
            <a:ext cx="10515600" cy="1325563"/>
          </a:xfrm>
        </p:spPr>
        <p:txBody>
          <a:bodyPr/>
          <a:lstStyle/>
          <a:p>
            <a:r>
              <a:rPr lang="en-US" b="1" dirty="0"/>
              <a:t>Metrics</a:t>
            </a:r>
            <a:endParaRPr lang="en-US" dirty="0"/>
          </a:p>
        </p:txBody>
      </p:sp>
      <p:pic>
        <p:nvPicPr>
          <p:cNvPr id="2050" name="Picture 2">
            <a:extLst>
              <a:ext uri="{FF2B5EF4-FFF2-40B4-BE49-F238E27FC236}">
                <a16:creationId xmlns:a16="http://schemas.microsoft.com/office/drawing/2014/main" id="{A7CF770B-9A2F-2719-BE94-D2E6EAFB7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3818"/>
            <a:ext cx="12192000" cy="674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399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E22D-C3DE-0AFE-0A3C-D5B597CC8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CE75D-D60D-50D4-5C94-1F3BA50CD299}"/>
              </a:ext>
            </a:extLst>
          </p:cNvPr>
          <p:cNvSpPr>
            <a:spLocks noGrp="1"/>
          </p:cNvSpPr>
          <p:nvPr>
            <p:ph type="title"/>
          </p:nvPr>
        </p:nvSpPr>
        <p:spPr>
          <a:xfrm>
            <a:off x="158004" y="-301323"/>
            <a:ext cx="10515600" cy="1325563"/>
          </a:xfrm>
        </p:spPr>
        <p:txBody>
          <a:bodyPr/>
          <a:lstStyle/>
          <a:p>
            <a:r>
              <a:rPr lang="en-US" b="1" dirty="0"/>
              <a:t>Metrics -- Time to First Token (TTFT)</a:t>
            </a:r>
            <a:endParaRPr lang="en-US" dirty="0"/>
          </a:p>
        </p:txBody>
      </p:sp>
      <p:sp>
        <p:nvSpPr>
          <p:cNvPr id="3" name="TextBox 2">
            <a:extLst>
              <a:ext uri="{FF2B5EF4-FFF2-40B4-BE49-F238E27FC236}">
                <a16:creationId xmlns:a16="http://schemas.microsoft.com/office/drawing/2014/main" id="{05CFD129-A1A3-7E49-0FE7-ED9980676A40}"/>
              </a:ext>
            </a:extLst>
          </p:cNvPr>
          <p:cNvSpPr txBox="1"/>
          <p:nvPr/>
        </p:nvSpPr>
        <p:spPr>
          <a:xfrm>
            <a:off x="2187146" y="654908"/>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3D5B4559-851F-333E-B9DD-4D7820A09581}"/>
              </a:ext>
            </a:extLst>
          </p:cNvPr>
          <p:cNvSpPr txBox="1"/>
          <p:nvPr/>
        </p:nvSpPr>
        <p:spPr>
          <a:xfrm>
            <a:off x="337753" y="1460487"/>
            <a:ext cx="6544962" cy="4247317"/>
          </a:xfrm>
          <a:prstGeom prst="rect">
            <a:avLst/>
          </a:prstGeom>
          <a:noFill/>
        </p:spPr>
        <p:txBody>
          <a:bodyPr wrap="square" rtlCol="0">
            <a:spAutoFit/>
          </a:bodyPr>
          <a:lstStyle/>
          <a:p>
            <a:r>
              <a:rPr lang="en-US" dirty="0"/>
              <a:t>This metric shows how long a user needs to wait before seeing the model’s output. This is the time it takes from submitting the query to receiving the first token (if the response is not empty).</a:t>
            </a:r>
          </a:p>
          <a:p>
            <a:endParaRPr lang="en-US" dirty="0"/>
          </a:p>
          <a:p>
            <a:pPr algn="just"/>
            <a:endParaRPr lang="en-US" dirty="0"/>
          </a:p>
          <a:p>
            <a:pPr algn="just"/>
            <a:endParaRPr lang="en-US" dirty="0"/>
          </a:p>
          <a:p>
            <a:pPr algn="just"/>
            <a:r>
              <a:rPr lang="en-US" dirty="0"/>
              <a:t>Time to first token generally includes both request queuing time, prefill time and network latency. The longer the prompt, the larger the TTFT. This is because the attention mechanism requires the whole input sequence to compute and create the so-called key-value cache (</a:t>
            </a:r>
            <a:r>
              <a:rPr lang="en-US" dirty="0" err="1"/>
              <a:t>aka.KV</a:t>
            </a:r>
            <a:r>
              <a:rPr lang="en-US" dirty="0"/>
              <a:t>-cache), from which point the iterative generation loop can begin. Additionally, a production application can have several requests in progress, therefore one request’s prefill phase may overlap with another request’s generation phase.</a:t>
            </a:r>
          </a:p>
        </p:txBody>
      </p:sp>
      <p:sp>
        <p:nvSpPr>
          <p:cNvPr id="5" name="TextBox 4">
            <a:extLst>
              <a:ext uri="{FF2B5EF4-FFF2-40B4-BE49-F238E27FC236}">
                <a16:creationId xmlns:a16="http://schemas.microsoft.com/office/drawing/2014/main" id="{A3C021A3-EC80-6DF2-975E-7651A03AB078}"/>
              </a:ext>
            </a:extLst>
          </p:cNvPr>
          <p:cNvSpPr txBox="1"/>
          <p:nvPr/>
        </p:nvSpPr>
        <p:spPr>
          <a:xfrm>
            <a:off x="7640595" y="1460487"/>
            <a:ext cx="3863546" cy="1754326"/>
          </a:xfrm>
          <a:prstGeom prst="rect">
            <a:avLst/>
          </a:prstGeom>
          <a:noFill/>
        </p:spPr>
        <p:txBody>
          <a:bodyPr wrap="square" rtlCol="0">
            <a:spAutoFit/>
          </a:bodyPr>
          <a:lstStyle/>
          <a:p>
            <a:r>
              <a:rPr lang="en-US" dirty="0"/>
              <a:t>request queuing time</a:t>
            </a:r>
          </a:p>
          <a:p>
            <a:r>
              <a:rPr lang="en-US" dirty="0"/>
              <a:t>network overhead</a:t>
            </a:r>
          </a:p>
          <a:p>
            <a:r>
              <a:rPr lang="en-US" dirty="0"/>
              <a:t>tokenization time</a:t>
            </a:r>
          </a:p>
          <a:p>
            <a:r>
              <a:rPr lang="en-US" dirty="0"/>
              <a:t>prefill computation time</a:t>
            </a:r>
          </a:p>
          <a:p>
            <a:r>
              <a:rPr lang="en-US" dirty="0"/>
              <a:t>first-token sampling / selection time</a:t>
            </a:r>
          </a:p>
          <a:p>
            <a:r>
              <a:rPr lang="en-US" dirty="0"/>
              <a:t>scheduler overhead</a:t>
            </a:r>
          </a:p>
        </p:txBody>
      </p:sp>
    </p:spTree>
    <p:extLst>
      <p:ext uri="{BB962C8B-B14F-4D97-AF65-F5344CB8AC3E}">
        <p14:creationId xmlns:p14="http://schemas.microsoft.com/office/powerpoint/2010/main" val="415604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1ED3-CB58-3668-8DD6-2357D26B1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F4DAD-8728-CCFC-5064-B293858D23F2}"/>
              </a:ext>
            </a:extLst>
          </p:cNvPr>
          <p:cNvSpPr>
            <a:spLocks noGrp="1"/>
          </p:cNvSpPr>
          <p:nvPr>
            <p:ph type="title"/>
          </p:nvPr>
        </p:nvSpPr>
        <p:spPr>
          <a:xfrm>
            <a:off x="96220" y="-7874"/>
            <a:ext cx="10515600" cy="1325563"/>
          </a:xfrm>
        </p:spPr>
        <p:txBody>
          <a:bodyPr/>
          <a:lstStyle/>
          <a:p>
            <a:r>
              <a:rPr lang="en-US" b="1" dirty="0"/>
              <a:t>Metrics -- Time Per Output Token (TPOT)</a:t>
            </a:r>
            <a:endParaRPr lang="en-US" dirty="0"/>
          </a:p>
        </p:txBody>
      </p:sp>
      <p:sp>
        <p:nvSpPr>
          <p:cNvPr id="3" name="TextBox 2">
            <a:extLst>
              <a:ext uri="{FF2B5EF4-FFF2-40B4-BE49-F238E27FC236}">
                <a16:creationId xmlns:a16="http://schemas.microsoft.com/office/drawing/2014/main" id="{E513F59A-FE41-94F0-97CA-5C75CE27BAA4}"/>
              </a:ext>
            </a:extLst>
          </p:cNvPr>
          <p:cNvSpPr txBox="1"/>
          <p:nvPr/>
        </p:nvSpPr>
        <p:spPr>
          <a:xfrm>
            <a:off x="2187146" y="654908"/>
            <a:ext cx="184731" cy="369332"/>
          </a:xfrm>
          <a:prstGeom prst="rect">
            <a:avLst/>
          </a:prstGeom>
          <a:noFill/>
        </p:spPr>
        <p:txBody>
          <a:bodyPr wrap="none" rtlCol="0">
            <a:spAutoFit/>
          </a:bodyPr>
          <a:lstStyle/>
          <a:p>
            <a:endParaRPr lang="en-US" dirty="0"/>
          </a:p>
        </p:txBody>
      </p:sp>
      <p:pic>
        <p:nvPicPr>
          <p:cNvPr id="5122" name="Picture 2">
            <a:extLst>
              <a:ext uri="{FF2B5EF4-FFF2-40B4-BE49-F238E27FC236}">
                <a16:creationId xmlns:a16="http://schemas.microsoft.com/office/drawing/2014/main" id="{DDFA6A28-5803-2CED-FD24-7BD60A036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9574"/>
            <a:ext cx="12192000" cy="5578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1EE840-DFA5-F7E5-BF5B-86415148622D}"/>
              </a:ext>
            </a:extLst>
          </p:cNvPr>
          <p:cNvSpPr txBox="1"/>
          <p:nvPr/>
        </p:nvSpPr>
        <p:spPr>
          <a:xfrm>
            <a:off x="597244" y="4109725"/>
            <a:ext cx="3863546" cy="2308324"/>
          </a:xfrm>
          <a:prstGeom prst="rect">
            <a:avLst/>
          </a:prstGeom>
          <a:noFill/>
        </p:spPr>
        <p:txBody>
          <a:bodyPr wrap="square" rtlCol="0">
            <a:spAutoFit/>
          </a:bodyPr>
          <a:lstStyle/>
          <a:p>
            <a:r>
              <a:rPr lang="en-US" dirty="0"/>
              <a:t>model size</a:t>
            </a:r>
          </a:p>
          <a:p>
            <a:r>
              <a:rPr lang="en-US" dirty="0"/>
              <a:t>decode batch size</a:t>
            </a:r>
          </a:p>
          <a:p>
            <a:r>
              <a:rPr lang="en-US" dirty="0"/>
              <a:t>KV cache length</a:t>
            </a:r>
          </a:p>
          <a:p>
            <a:r>
              <a:rPr lang="en-US" dirty="0"/>
              <a:t>memory bandwidth</a:t>
            </a:r>
          </a:p>
          <a:p>
            <a:r>
              <a:rPr lang="en-US" dirty="0"/>
              <a:t>GPU utilization</a:t>
            </a:r>
          </a:p>
          <a:p>
            <a:r>
              <a:rPr lang="en-US" dirty="0"/>
              <a:t>sampling strategy</a:t>
            </a:r>
          </a:p>
          <a:p>
            <a:r>
              <a:rPr lang="en-US" dirty="0"/>
              <a:t>scheduler overhead</a:t>
            </a:r>
          </a:p>
          <a:p>
            <a:r>
              <a:rPr lang="en-US" dirty="0"/>
              <a:t>concurrency</a:t>
            </a:r>
          </a:p>
        </p:txBody>
      </p:sp>
    </p:spTree>
    <p:extLst>
      <p:ext uri="{BB962C8B-B14F-4D97-AF65-F5344CB8AC3E}">
        <p14:creationId xmlns:p14="http://schemas.microsoft.com/office/powerpoint/2010/main" val="98253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E6BE-940C-2822-0A64-15092F6FD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47F81-F13A-1887-7367-ABDCBC8FEA71}"/>
              </a:ext>
            </a:extLst>
          </p:cNvPr>
          <p:cNvSpPr>
            <a:spLocks noGrp="1"/>
          </p:cNvSpPr>
          <p:nvPr>
            <p:ph type="title"/>
          </p:nvPr>
        </p:nvSpPr>
        <p:spPr>
          <a:xfrm>
            <a:off x="96220" y="-7874"/>
            <a:ext cx="11692126" cy="1325563"/>
          </a:xfrm>
        </p:spPr>
        <p:txBody>
          <a:bodyPr/>
          <a:lstStyle/>
          <a:p>
            <a:r>
              <a:rPr lang="en-US" b="1" dirty="0"/>
              <a:t>Metrics -- Tokens Per Second (TPS) and Requests/sec</a:t>
            </a:r>
          </a:p>
        </p:txBody>
      </p:sp>
      <p:sp>
        <p:nvSpPr>
          <p:cNvPr id="3" name="TextBox 2">
            <a:extLst>
              <a:ext uri="{FF2B5EF4-FFF2-40B4-BE49-F238E27FC236}">
                <a16:creationId xmlns:a16="http://schemas.microsoft.com/office/drawing/2014/main" id="{CB82DE1C-A5AA-DEBD-0B51-E352165B23E6}"/>
              </a:ext>
            </a:extLst>
          </p:cNvPr>
          <p:cNvSpPr txBox="1"/>
          <p:nvPr/>
        </p:nvSpPr>
        <p:spPr>
          <a:xfrm>
            <a:off x="2187146" y="654908"/>
            <a:ext cx="184731" cy="369332"/>
          </a:xfrm>
          <a:prstGeom prst="rect">
            <a:avLst/>
          </a:prstGeom>
          <a:noFill/>
        </p:spPr>
        <p:txBody>
          <a:bodyPr wrap="none" rtlCol="0">
            <a:spAutoFit/>
          </a:bodyPr>
          <a:lstStyle/>
          <a:p>
            <a:endParaRPr lang="en-US" dirty="0"/>
          </a:p>
        </p:txBody>
      </p:sp>
      <p:pic>
        <p:nvPicPr>
          <p:cNvPr id="6146" name="Picture 2">
            <a:extLst>
              <a:ext uri="{FF2B5EF4-FFF2-40B4-BE49-F238E27FC236}">
                <a16:creationId xmlns:a16="http://schemas.microsoft.com/office/drawing/2014/main" id="{B59A71DD-77B2-A185-0057-E53196B766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2450" y="1577181"/>
            <a:ext cx="8547100" cy="237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25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7E586-358F-9640-813B-5458A513A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279B3-4D25-8B58-EF68-432FB194AA35}"/>
              </a:ext>
            </a:extLst>
          </p:cNvPr>
          <p:cNvSpPr>
            <a:spLocks noGrp="1"/>
          </p:cNvSpPr>
          <p:nvPr>
            <p:ph type="title"/>
          </p:nvPr>
        </p:nvSpPr>
        <p:spPr>
          <a:xfrm>
            <a:off x="96220" y="86970"/>
            <a:ext cx="11692126" cy="1325563"/>
          </a:xfrm>
        </p:spPr>
        <p:txBody>
          <a:bodyPr>
            <a:normAutofit fontScale="90000"/>
          </a:bodyPr>
          <a:lstStyle/>
          <a:p>
            <a:r>
              <a:rPr lang="en-US" b="1" dirty="0"/>
              <a:t>Metrics -- End-to-End Request Latency (e2e_latency)</a:t>
            </a:r>
            <a:br>
              <a:rPr lang="en-US" b="1" dirty="0"/>
            </a:br>
            <a:endParaRPr lang="en-US" b="1" dirty="0"/>
          </a:p>
        </p:txBody>
      </p:sp>
      <p:sp>
        <p:nvSpPr>
          <p:cNvPr id="3" name="TextBox 2">
            <a:extLst>
              <a:ext uri="{FF2B5EF4-FFF2-40B4-BE49-F238E27FC236}">
                <a16:creationId xmlns:a16="http://schemas.microsoft.com/office/drawing/2014/main" id="{689DAFBA-3227-5D2A-3B16-B7A0A3D38919}"/>
              </a:ext>
            </a:extLst>
          </p:cNvPr>
          <p:cNvSpPr txBox="1"/>
          <p:nvPr/>
        </p:nvSpPr>
        <p:spPr>
          <a:xfrm>
            <a:off x="2187146" y="654908"/>
            <a:ext cx="184731" cy="369332"/>
          </a:xfrm>
          <a:prstGeom prst="rect">
            <a:avLst/>
          </a:prstGeom>
          <a:noFill/>
        </p:spPr>
        <p:txBody>
          <a:bodyPr wrap="none" rtlCol="0">
            <a:spAutoFit/>
          </a:bodyPr>
          <a:lstStyle/>
          <a:p>
            <a:endParaRPr lang="en-US" dirty="0"/>
          </a:p>
        </p:txBody>
      </p:sp>
      <p:pic>
        <p:nvPicPr>
          <p:cNvPr id="7170" name="Picture 2">
            <a:extLst>
              <a:ext uri="{FF2B5EF4-FFF2-40B4-BE49-F238E27FC236}">
                <a16:creationId xmlns:a16="http://schemas.microsoft.com/office/drawing/2014/main" id="{D37E20FC-13FF-3332-03CB-AF32167919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85888"/>
            <a:ext cx="12192000" cy="4084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388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2773-F88C-0AE0-36D9-3C649A32EE27}"/>
              </a:ext>
            </a:extLst>
          </p:cNvPr>
          <p:cNvSpPr>
            <a:spLocks noGrp="1"/>
          </p:cNvSpPr>
          <p:nvPr>
            <p:ph type="title"/>
          </p:nvPr>
        </p:nvSpPr>
        <p:spPr>
          <a:xfrm>
            <a:off x="220579" y="307373"/>
            <a:ext cx="10515600" cy="732155"/>
          </a:xfrm>
        </p:spPr>
        <p:txBody>
          <a:bodyPr>
            <a:normAutofit fontScale="90000"/>
          </a:bodyPr>
          <a:lstStyle/>
          <a:p>
            <a:r>
              <a:rPr lang="en-US" b="1" dirty="0"/>
              <a:t>Metrics –</a:t>
            </a:r>
            <a:r>
              <a:rPr lang="zh-CN" altLang="en-US" b="1" dirty="0"/>
              <a:t> </a:t>
            </a:r>
            <a:r>
              <a:rPr lang="en-US" b="1" dirty="0"/>
              <a:t>P</a:t>
            </a:r>
            <a:r>
              <a:rPr lang="en-US" altLang="zh-CN" b="1" dirty="0"/>
              <a:t>95</a:t>
            </a:r>
            <a:br>
              <a:rPr lang="en-US" b="1" dirty="0"/>
            </a:br>
            <a:endParaRPr lang="en-US" dirty="0"/>
          </a:p>
        </p:txBody>
      </p:sp>
      <p:pic>
        <p:nvPicPr>
          <p:cNvPr id="4" name="Picture 3">
            <a:extLst>
              <a:ext uri="{FF2B5EF4-FFF2-40B4-BE49-F238E27FC236}">
                <a16:creationId xmlns:a16="http://schemas.microsoft.com/office/drawing/2014/main" id="{49F563CC-09CB-47B7-70CE-338F38435773}"/>
              </a:ext>
            </a:extLst>
          </p:cNvPr>
          <p:cNvPicPr>
            <a:picLocks noChangeAspect="1"/>
          </p:cNvPicPr>
          <p:nvPr/>
        </p:nvPicPr>
        <p:blipFill>
          <a:blip r:embed="rId2"/>
          <a:stretch>
            <a:fillRect/>
          </a:stretch>
        </p:blipFill>
        <p:spPr>
          <a:xfrm>
            <a:off x="2411930" y="937754"/>
            <a:ext cx="7184457" cy="5363677"/>
          </a:xfrm>
          <a:prstGeom prst="rect">
            <a:avLst/>
          </a:prstGeom>
        </p:spPr>
      </p:pic>
    </p:spTree>
    <p:extLst>
      <p:ext uri="{BB962C8B-B14F-4D97-AF65-F5344CB8AC3E}">
        <p14:creationId xmlns:p14="http://schemas.microsoft.com/office/powerpoint/2010/main" val="808076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F98F5-7BEE-ABA4-F127-4032A753008C}"/>
              </a:ext>
            </a:extLst>
          </p:cNvPr>
          <p:cNvSpPr>
            <a:spLocks noGrp="1"/>
          </p:cNvSpPr>
          <p:nvPr>
            <p:ph type="title"/>
          </p:nvPr>
        </p:nvSpPr>
        <p:spPr>
          <a:xfrm>
            <a:off x="174057" y="105243"/>
            <a:ext cx="10515600" cy="1325563"/>
          </a:xfrm>
        </p:spPr>
        <p:txBody>
          <a:bodyPr/>
          <a:lstStyle/>
          <a:p>
            <a:r>
              <a:rPr lang="en-US" b="1" dirty="0"/>
              <a:t>Metrics</a:t>
            </a:r>
            <a:r>
              <a:rPr lang="zh-CN" altLang="en-US" b="1" dirty="0"/>
              <a:t> </a:t>
            </a:r>
            <a:r>
              <a:rPr lang="en-US" altLang="zh-CN" b="1" dirty="0"/>
              <a:t>--</a:t>
            </a:r>
            <a:r>
              <a:rPr lang="zh-CN" altLang="en-US" b="1" dirty="0"/>
              <a:t> </a:t>
            </a:r>
            <a:r>
              <a:rPr lang="en-US" altLang="zh-CN" b="1" dirty="0"/>
              <a:t>summary</a:t>
            </a:r>
            <a:endParaRPr lang="en-US" dirty="0"/>
          </a:p>
        </p:txBody>
      </p:sp>
      <p:sp>
        <p:nvSpPr>
          <p:cNvPr id="3" name="Content Placeholder 2">
            <a:extLst>
              <a:ext uri="{FF2B5EF4-FFF2-40B4-BE49-F238E27FC236}">
                <a16:creationId xmlns:a16="http://schemas.microsoft.com/office/drawing/2014/main" id="{3481327B-DF3E-C56E-88E0-9D81CD782BB5}"/>
              </a:ext>
            </a:extLst>
          </p:cNvPr>
          <p:cNvSpPr>
            <a:spLocks noGrp="1"/>
          </p:cNvSpPr>
          <p:nvPr>
            <p:ph idx="1"/>
          </p:nvPr>
        </p:nvSpPr>
        <p:spPr>
          <a:xfrm>
            <a:off x="751573" y="1430806"/>
            <a:ext cx="10515600" cy="4351338"/>
          </a:xfrm>
        </p:spPr>
        <p:txBody>
          <a:bodyPr>
            <a:normAutofit fontScale="55000" lnSpcReduction="20000"/>
          </a:bodyPr>
          <a:lstStyle/>
          <a:p>
            <a:pPr marL="0" indent="0">
              <a:buNone/>
            </a:pPr>
            <a:r>
              <a:rPr lang="en-US" dirty="0"/>
              <a:t>Request starts</a:t>
            </a:r>
          </a:p>
          <a:p>
            <a:pPr marL="0" indent="0">
              <a:buNone/>
            </a:pPr>
            <a:r>
              <a:rPr lang="en-US" dirty="0"/>
              <a:t>     |</a:t>
            </a:r>
          </a:p>
          <a:p>
            <a:pPr marL="0" indent="0">
              <a:buNone/>
            </a:pPr>
            <a:r>
              <a:rPr lang="en-US" dirty="0"/>
              <a:t>     |&lt;----------- TTFT -----------&gt;|</a:t>
            </a:r>
          </a:p>
          <a:p>
            <a:pPr marL="0" indent="0">
              <a:buNone/>
            </a:pPr>
            <a:r>
              <a:rPr lang="en-US" dirty="0"/>
              <a:t>     |                              |</a:t>
            </a:r>
          </a:p>
          <a:p>
            <a:pPr marL="0" indent="0">
              <a:buNone/>
            </a:pPr>
            <a:r>
              <a:rPr lang="en-US" dirty="0"/>
              <a:t>     v                              v</a:t>
            </a:r>
          </a:p>
          <a:p>
            <a:pPr marL="0" indent="0">
              <a:buNone/>
            </a:pPr>
            <a:r>
              <a:rPr lang="en-US" dirty="0"/>
              <a:t>Prompt received                First token</a:t>
            </a:r>
          </a:p>
          <a:p>
            <a:pPr marL="0" indent="0">
              <a:buNone/>
            </a:pPr>
            <a:r>
              <a:rPr lang="en-US" dirty="0"/>
              <a:t>                                   |</a:t>
            </a:r>
          </a:p>
          <a:p>
            <a:pPr marL="0" indent="0">
              <a:buNone/>
            </a:pPr>
            <a:r>
              <a:rPr lang="en-US" dirty="0"/>
              <a:t>                                   |&lt;-- TPOT --&gt;|&lt;-- TPOT --&gt;|&lt;-- TPOT --&gt;|</a:t>
            </a:r>
          </a:p>
          <a:p>
            <a:pPr marL="0" indent="0">
              <a:buNone/>
            </a:pPr>
            <a:r>
              <a:rPr lang="en-US" dirty="0"/>
              <a:t>                                   v            v            v</a:t>
            </a:r>
          </a:p>
          <a:p>
            <a:pPr marL="0" indent="0">
              <a:buNone/>
            </a:pPr>
            <a:r>
              <a:rPr lang="en-US" dirty="0"/>
              <a:t>                                token 2      token 3      token 4</a:t>
            </a:r>
          </a:p>
          <a:p>
            <a:pPr marL="0" indent="0">
              <a:buNone/>
            </a:pPr>
            <a:r>
              <a:rPr lang="en-US" dirty="0"/>
              <a:t>                                                                |</a:t>
            </a:r>
          </a:p>
          <a:p>
            <a:pPr marL="0" indent="0">
              <a:buNone/>
            </a:pPr>
            <a:r>
              <a:rPr lang="en-US" dirty="0"/>
              <a:t>                                                                v</a:t>
            </a:r>
          </a:p>
          <a:p>
            <a:pPr marL="0" indent="0">
              <a:buNone/>
            </a:pPr>
            <a:r>
              <a:rPr lang="en-US" dirty="0"/>
              <a:t>                                                          Final response</a:t>
            </a:r>
          </a:p>
          <a:p>
            <a:pPr marL="0" indent="0">
              <a:buNone/>
            </a:pPr>
            <a:endParaRPr lang="en-US" dirty="0"/>
          </a:p>
          <a:p>
            <a:pPr marL="0" indent="0">
              <a:buNone/>
            </a:pPr>
            <a:r>
              <a:rPr lang="en-US" dirty="0"/>
              <a:t>|&lt;-------------------- End-to-end latency --------------------&gt;|</a:t>
            </a:r>
          </a:p>
        </p:txBody>
      </p:sp>
    </p:spTree>
    <p:extLst>
      <p:ext uri="{BB962C8B-B14F-4D97-AF65-F5344CB8AC3E}">
        <p14:creationId xmlns:p14="http://schemas.microsoft.com/office/powerpoint/2010/main" val="1497644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3718-2A53-E260-79C4-C5DFFDEDD3EC}"/>
              </a:ext>
            </a:extLst>
          </p:cNvPr>
          <p:cNvSpPr>
            <a:spLocks noGrp="1"/>
          </p:cNvSpPr>
          <p:nvPr>
            <p:ph type="title"/>
          </p:nvPr>
        </p:nvSpPr>
        <p:spPr>
          <a:xfrm>
            <a:off x="289560" y="124493"/>
            <a:ext cx="10515600" cy="1325563"/>
          </a:xfrm>
        </p:spPr>
        <p:txBody>
          <a:bodyPr/>
          <a:lstStyle/>
          <a:p>
            <a:r>
              <a:rPr lang="en-US" dirty="0"/>
              <a:t>Prefill</a:t>
            </a:r>
          </a:p>
        </p:txBody>
      </p:sp>
      <p:pic>
        <p:nvPicPr>
          <p:cNvPr id="4" name="Picture 3">
            <a:extLst>
              <a:ext uri="{FF2B5EF4-FFF2-40B4-BE49-F238E27FC236}">
                <a16:creationId xmlns:a16="http://schemas.microsoft.com/office/drawing/2014/main" id="{B2C028EF-65BE-59C4-BAB1-47B7416B395B}"/>
              </a:ext>
            </a:extLst>
          </p:cNvPr>
          <p:cNvPicPr>
            <a:picLocks noChangeAspect="1"/>
          </p:cNvPicPr>
          <p:nvPr/>
        </p:nvPicPr>
        <p:blipFill>
          <a:blip r:embed="rId2"/>
          <a:stretch>
            <a:fillRect/>
          </a:stretch>
        </p:blipFill>
        <p:spPr>
          <a:xfrm>
            <a:off x="1386840" y="1445160"/>
            <a:ext cx="8695695" cy="2162944"/>
          </a:xfrm>
          <a:prstGeom prst="rect">
            <a:avLst/>
          </a:prstGeom>
        </p:spPr>
      </p:pic>
      <p:sp>
        <p:nvSpPr>
          <p:cNvPr id="5" name="TextBox 4">
            <a:extLst>
              <a:ext uri="{FF2B5EF4-FFF2-40B4-BE49-F238E27FC236}">
                <a16:creationId xmlns:a16="http://schemas.microsoft.com/office/drawing/2014/main" id="{6F710926-8984-5945-AEDE-73AEDA5193F4}"/>
              </a:ext>
            </a:extLst>
          </p:cNvPr>
          <p:cNvSpPr txBox="1"/>
          <p:nvPr/>
        </p:nvSpPr>
        <p:spPr>
          <a:xfrm>
            <a:off x="1116532" y="3888606"/>
            <a:ext cx="10171054" cy="369332"/>
          </a:xfrm>
          <a:prstGeom prst="rect">
            <a:avLst/>
          </a:prstGeom>
          <a:noFill/>
        </p:spPr>
        <p:txBody>
          <a:bodyPr wrap="none" rtlCol="0">
            <a:spAutoFit/>
          </a:bodyPr>
          <a:lstStyle/>
          <a:p>
            <a:r>
              <a:rPr lang="en-US" dirty="0"/>
              <a:t>Prefill processes the full input prompt and builds the initial KV cache before generating the first token.</a:t>
            </a:r>
          </a:p>
        </p:txBody>
      </p:sp>
    </p:spTree>
    <p:extLst>
      <p:ext uri="{BB962C8B-B14F-4D97-AF65-F5344CB8AC3E}">
        <p14:creationId xmlns:p14="http://schemas.microsoft.com/office/powerpoint/2010/main" val="1452525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51149-7F2B-F01A-A81C-EF77C67743A7}"/>
              </a:ext>
            </a:extLst>
          </p:cNvPr>
          <p:cNvSpPr>
            <a:spLocks noGrp="1"/>
          </p:cNvSpPr>
          <p:nvPr>
            <p:ph idx="1"/>
          </p:nvPr>
        </p:nvSpPr>
        <p:spPr>
          <a:xfrm>
            <a:off x="953703" y="1113354"/>
            <a:ext cx="5004336" cy="5152691"/>
          </a:xfrm>
        </p:spPr>
        <p:txBody>
          <a:bodyPr>
            <a:normAutofit fontScale="92500" lnSpcReduction="20000"/>
          </a:bodyPr>
          <a:lstStyle/>
          <a:p>
            <a:pPr marL="0" indent="0">
              <a:buNone/>
            </a:pPr>
            <a:r>
              <a:rPr lang="en-US" dirty="0"/>
              <a:t>Prompt tokens: x1, x2, x3, ..., </a:t>
            </a:r>
            <a:r>
              <a:rPr lang="en-US" dirty="0" err="1"/>
              <a:t>xN</a:t>
            </a:r>
            <a:endParaRPr lang="en-US" dirty="0"/>
          </a:p>
          <a:p>
            <a:pPr marL="0" indent="0">
              <a:buNone/>
            </a:pPr>
            <a:r>
              <a:rPr lang="en-US" dirty="0"/>
              <a:t>          |</a:t>
            </a:r>
          </a:p>
          <a:p>
            <a:pPr marL="0" indent="0">
              <a:buNone/>
            </a:pPr>
            <a:r>
              <a:rPr lang="en-US" dirty="0"/>
              <a:t>         v</a:t>
            </a:r>
          </a:p>
          <a:p>
            <a:pPr marL="0" indent="0">
              <a:buNone/>
            </a:pPr>
            <a:r>
              <a:rPr lang="en-US" dirty="0"/>
              <a:t>┌─────────────────────────┐</a:t>
            </a:r>
          </a:p>
          <a:p>
            <a:pPr marL="0" indent="0">
              <a:buNone/>
            </a:pPr>
            <a:r>
              <a:rPr lang="en-US" dirty="0"/>
              <a:t>│ Prefill                            </a:t>
            </a:r>
            <a:r>
              <a:rPr lang="zh-CN" altLang="en-US" dirty="0"/>
              <a:t>                     </a:t>
            </a:r>
            <a:r>
              <a:rPr lang="en-US" dirty="0"/>
              <a:t>│</a:t>
            </a:r>
          </a:p>
          <a:p>
            <a:pPr marL="0" indent="0">
              <a:buNone/>
            </a:pPr>
            <a:r>
              <a:rPr lang="en-US" dirty="0"/>
              <a:t>│ - process full prompt              </a:t>
            </a:r>
            <a:r>
              <a:rPr lang="zh-CN" altLang="en-US" dirty="0"/>
              <a:t>   </a:t>
            </a:r>
            <a:r>
              <a:rPr lang="en-US" dirty="0"/>
              <a:t>│</a:t>
            </a:r>
          </a:p>
          <a:p>
            <a:pPr marL="0" indent="0">
              <a:buNone/>
            </a:pPr>
            <a:r>
              <a:rPr lang="en-US" dirty="0"/>
              <a:t>│ - compute Q/K/V for prompt  │</a:t>
            </a:r>
          </a:p>
          <a:p>
            <a:pPr marL="0" indent="0">
              <a:buNone/>
            </a:pPr>
            <a:r>
              <a:rPr lang="en-US" dirty="0"/>
              <a:t>│ - build initial KV cache           </a:t>
            </a:r>
            <a:r>
              <a:rPr lang="zh-CN" altLang="en-US" dirty="0"/>
              <a:t>   </a:t>
            </a:r>
            <a:r>
              <a:rPr lang="en-US" dirty="0"/>
              <a:t>│</a:t>
            </a:r>
          </a:p>
          <a:p>
            <a:pPr marL="0" indent="0">
              <a:buNone/>
            </a:pPr>
            <a:r>
              <a:rPr lang="en-US" dirty="0"/>
              <a:t>│ - generate first token y1         </a:t>
            </a:r>
            <a:r>
              <a:rPr lang="zh-CN" altLang="en-US" dirty="0"/>
              <a:t> </a:t>
            </a:r>
            <a:r>
              <a:rPr lang="en-US" dirty="0"/>
              <a:t>  │</a:t>
            </a:r>
          </a:p>
          <a:p>
            <a:pPr marL="0" indent="0">
              <a:buNone/>
            </a:pPr>
            <a:r>
              <a:rPr lang="en-US" dirty="0"/>
              <a:t>└─────────────────────────┘</a:t>
            </a:r>
          </a:p>
          <a:p>
            <a:pPr marL="0" indent="0">
              <a:buNone/>
            </a:pPr>
            <a:r>
              <a:rPr lang="en-US" dirty="0"/>
              <a:t>          |</a:t>
            </a:r>
          </a:p>
          <a:p>
            <a:pPr marL="0" indent="0">
              <a:buNone/>
            </a:pPr>
            <a:r>
              <a:rPr lang="en-US" dirty="0"/>
              <a:t>         v</a:t>
            </a:r>
          </a:p>
          <a:p>
            <a:pPr marL="0" indent="0">
              <a:buNone/>
            </a:pPr>
            <a:endParaRPr lang="en-US" dirty="0"/>
          </a:p>
        </p:txBody>
      </p:sp>
      <p:sp>
        <p:nvSpPr>
          <p:cNvPr id="5" name="Title 1">
            <a:extLst>
              <a:ext uri="{FF2B5EF4-FFF2-40B4-BE49-F238E27FC236}">
                <a16:creationId xmlns:a16="http://schemas.microsoft.com/office/drawing/2014/main" id="{940162A8-64AC-847B-EDE2-C4B36395C12A}"/>
              </a:ext>
            </a:extLst>
          </p:cNvPr>
          <p:cNvSpPr>
            <a:spLocks noGrp="1"/>
          </p:cNvSpPr>
          <p:nvPr>
            <p:ph type="title"/>
          </p:nvPr>
        </p:nvSpPr>
        <p:spPr>
          <a:xfrm>
            <a:off x="125930" y="105242"/>
            <a:ext cx="10515600" cy="838033"/>
          </a:xfrm>
        </p:spPr>
        <p:txBody>
          <a:bodyPr/>
          <a:lstStyle/>
          <a:p>
            <a:r>
              <a:rPr lang="en-US" dirty="0"/>
              <a:t>Prefill</a:t>
            </a:r>
          </a:p>
        </p:txBody>
      </p:sp>
      <p:sp>
        <p:nvSpPr>
          <p:cNvPr id="6" name="TextBox 5">
            <a:extLst>
              <a:ext uri="{FF2B5EF4-FFF2-40B4-BE49-F238E27FC236}">
                <a16:creationId xmlns:a16="http://schemas.microsoft.com/office/drawing/2014/main" id="{DC729DD5-6EF5-172B-F2F9-E0FE13FA813B}"/>
              </a:ext>
            </a:extLst>
          </p:cNvPr>
          <p:cNvSpPr txBox="1"/>
          <p:nvPr/>
        </p:nvSpPr>
        <p:spPr>
          <a:xfrm>
            <a:off x="6558815" y="366424"/>
            <a:ext cx="513026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TTFT is the time from the start of a request until the first token is generated. </a:t>
            </a:r>
          </a:p>
          <a:p>
            <a:pPr marL="285750" indent="-285750">
              <a:buFont typeface="Arial" panose="020B0604020202020204" pitchFamily="34" charset="0"/>
              <a:buChar char="•"/>
            </a:pPr>
            <a:r>
              <a:rPr lang="en-US" dirty="0"/>
              <a:t>It mainly reflects the cost of the prefill stage and the system’s responsiveness. </a:t>
            </a:r>
          </a:p>
        </p:txBody>
      </p:sp>
      <p:sp>
        <p:nvSpPr>
          <p:cNvPr id="7" name="TextBox 6">
            <a:extLst>
              <a:ext uri="{FF2B5EF4-FFF2-40B4-BE49-F238E27FC236}">
                <a16:creationId xmlns:a16="http://schemas.microsoft.com/office/drawing/2014/main" id="{192E8603-9BFD-2900-C9EF-EA42C59E58D1}"/>
              </a:ext>
            </a:extLst>
          </p:cNvPr>
          <p:cNvSpPr txBox="1"/>
          <p:nvPr/>
        </p:nvSpPr>
        <p:spPr>
          <a:xfrm>
            <a:off x="6724048" y="1566753"/>
            <a:ext cx="5130265" cy="646331"/>
          </a:xfrm>
          <a:prstGeom prst="rect">
            <a:avLst/>
          </a:prstGeom>
          <a:noFill/>
        </p:spPr>
        <p:txBody>
          <a:bodyPr wrap="square" rtlCol="0">
            <a:spAutoFit/>
          </a:bodyPr>
          <a:lstStyle/>
          <a:p>
            <a:r>
              <a:rPr lang="en-US" dirty="0"/>
              <a:t>Longer</a:t>
            </a:r>
            <a:r>
              <a:rPr lang="zh-CN" altLang="en-US" dirty="0"/>
              <a:t> </a:t>
            </a:r>
            <a:r>
              <a:rPr lang="en-US" dirty="0"/>
              <a:t>prompt </a:t>
            </a:r>
            <a:r>
              <a:rPr lang="en-US" altLang="zh-CN" dirty="0"/>
              <a:t>-&gt; more </a:t>
            </a:r>
            <a:r>
              <a:rPr lang="en-US" dirty="0"/>
              <a:t>prefill </a:t>
            </a:r>
            <a:r>
              <a:rPr lang="en-US" altLang="zh-CN" dirty="0"/>
              <a:t>computation</a:t>
            </a:r>
            <a:r>
              <a:rPr lang="zh-CN" altLang="en-US" dirty="0"/>
              <a:t> </a:t>
            </a:r>
            <a:r>
              <a:rPr lang="en-US" altLang="zh-CN" dirty="0"/>
              <a:t>(</a:t>
            </a:r>
            <a:r>
              <a:rPr lang="en-US" dirty="0"/>
              <a:t>initial KV cache</a:t>
            </a:r>
            <a:r>
              <a:rPr lang="en-US" altLang="zh-CN" dirty="0"/>
              <a:t>)</a:t>
            </a:r>
            <a:r>
              <a:rPr lang="en-US" dirty="0"/>
              <a:t> -&gt; larger attention cost </a:t>
            </a:r>
            <a:r>
              <a:rPr lang="en-US" altLang="zh-CN" dirty="0"/>
              <a:t>-&gt; higher</a:t>
            </a:r>
            <a:r>
              <a:rPr lang="zh-CN" altLang="en-US" dirty="0"/>
              <a:t> </a:t>
            </a:r>
            <a:r>
              <a:rPr lang="en-US" dirty="0"/>
              <a:t>TTFT</a:t>
            </a:r>
          </a:p>
        </p:txBody>
      </p:sp>
      <p:sp>
        <p:nvSpPr>
          <p:cNvPr id="8" name="TextBox 7">
            <a:extLst>
              <a:ext uri="{FF2B5EF4-FFF2-40B4-BE49-F238E27FC236}">
                <a16:creationId xmlns:a16="http://schemas.microsoft.com/office/drawing/2014/main" id="{76422EC2-B817-F341-1DC0-B24F20EF6D58}"/>
              </a:ext>
            </a:extLst>
          </p:cNvPr>
          <p:cNvSpPr txBox="1"/>
          <p:nvPr/>
        </p:nvSpPr>
        <p:spPr>
          <a:xfrm>
            <a:off x="6724047" y="5398425"/>
            <a:ext cx="5130265" cy="1200329"/>
          </a:xfrm>
          <a:prstGeom prst="rect">
            <a:avLst/>
          </a:prstGeom>
          <a:noFill/>
        </p:spPr>
        <p:txBody>
          <a:bodyPr wrap="square" rtlCol="0">
            <a:spAutoFit/>
          </a:bodyPr>
          <a:lstStyle/>
          <a:p>
            <a:r>
              <a:rPr lang="en-US" dirty="0"/>
              <a:t>Example:</a:t>
            </a:r>
          </a:p>
          <a:p>
            <a:r>
              <a:rPr lang="en-US" dirty="0"/>
              <a:t>prompt </a:t>
            </a:r>
            <a:r>
              <a:rPr lang="en-US" altLang="zh-CN" dirty="0"/>
              <a:t> 32 </a:t>
            </a:r>
            <a:r>
              <a:rPr lang="en-US" dirty="0"/>
              <a:t>tokens, prefill </a:t>
            </a:r>
            <a:r>
              <a:rPr lang="en-US" altLang="zh-CN" dirty="0"/>
              <a:t> 32 </a:t>
            </a:r>
            <a:r>
              <a:rPr lang="en-US" dirty="0"/>
              <a:t>tokens</a:t>
            </a:r>
          </a:p>
          <a:p>
            <a:r>
              <a:rPr lang="en-US" dirty="0"/>
              <a:t>prompt </a:t>
            </a:r>
            <a:r>
              <a:rPr lang="en-US" altLang="zh-CN" dirty="0"/>
              <a:t>1024 </a:t>
            </a:r>
            <a:r>
              <a:rPr lang="en-US" dirty="0"/>
              <a:t>tokens, prefill </a:t>
            </a:r>
            <a:r>
              <a:rPr lang="en-US" altLang="zh-CN" dirty="0"/>
              <a:t>1024 </a:t>
            </a:r>
            <a:r>
              <a:rPr lang="en-US" dirty="0"/>
              <a:t>tokens</a:t>
            </a:r>
          </a:p>
          <a:p>
            <a:endParaRPr lang="en-US" dirty="0"/>
          </a:p>
        </p:txBody>
      </p:sp>
      <p:pic>
        <p:nvPicPr>
          <p:cNvPr id="9218" name="Picture 2" descr="How To Reduce LLM Decoding Time With KV-Caching!">
            <a:extLst>
              <a:ext uri="{FF2B5EF4-FFF2-40B4-BE49-F238E27FC236}">
                <a16:creationId xmlns:a16="http://schemas.microsoft.com/office/drawing/2014/main" id="{A5FA062E-F775-2016-A0D3-FE137C085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416" y="2622550"/>
            <a:ext cx="5004336" cy="252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759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AF53B-3190-9318-BCC1-9E42F73D4B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925E5-7ABF-AD8E-2390-CE0AB9E9AFBC}"/>
              </a:ext>
            </a:extLst>
          </p:cNvPr>
          <p:cNvSpPr>
            <a:spLocks noGrp="1"/>
          </p:cNvSpPr>
          <p:nvPr>
            <p:ph idx="1"/>
          </p:nvPr>
        </p:nvSpPr>
        <p:spPr>
          <a:xfrm>
            <a:off x="953703" y="1113354"/>
            <a:ext cx="5004336" cy="5152691"/>
          </a:xfrm>
        </p:spPr>
        <p:txBody>
          <a:bodyPr>
            <a:normAutofit fontScale="92500" lnSpcReduction="20000"/>
          </a:bodyPr>
          <a:lstStyle/>
          <a:p>
            <a:pPr marL="0" indent="0">
              <a:buNone/>
            </a:pPr>
            <a:r>
              <a:rPr lang="en-US" dirty="0"/>
              <a:t>Prompt tokens: x1, x2, x3, ..., </a:t>
            </a:r>
            <a:r>
              <a:rPr lang="en-US" dirty="0" err="1"/>
              <a:t>xN</a:t>
            </a:r>
            <a:endParaRPr lang="en-US" dirty="0"/>
          </a:p>
          <a:p>
            <a:pPr marL="0" indent="0">
              <a:buNone/>
            </a:pPr>
            <a:r>
              <a:rPr lang="en-US" dirty="0"/>
              <a:t>          |</a:t>
            </a:r>
          </a:p>
          <a:p>
            <a:pPr marL="0" indent="0">
              <a:buNone/>
            </a:pPr>
            <a:r>
              <a:rPr lang="en-US" dirty="0"/>
              <a:t>         v</a:t>
            </a:r>
          </a:p>
          <a:p>
            <a:pPr marL="0" indent="0">
              <a:buNone/>
            </a:pPr>
            <a:r>
              <a:rPr lang="en-US" dirty="0"/>
              <a:t>┌─────────────────────────┐</a:t>
            </a:r>
          </a:p>
          <a:p>
            <a:pPr marL="0" indent="0">
              <a:buNone/>
            </a:pPr>
            <a:r>
              <a:rPr lang="en-US" dirty="0"/>
              <a:t>│ Prefill                            </a:t>
            </a:r>
            <a:r>
              <a:rPr lang="zh-CN" altLang="en-US" dirty="0"/>
              <a:t>                     </a:t>
            </a:r>
            <a:r>
              <a:rPr lang="en-US" dirty="0"/>
              <a:t>│</a:t>
            </a:r>
          </a:p>
          <a:p>
            <a:pPr marL="0" indent="0">
              <a:buNone/>
            </a:pPr>
            <a:r>
              <a:rPr lang="en-US" dirty="0"/>
              <a:t>│ - process full prompt              </a:t>
            </a:r>
            <a:r>
              <a:rPr lang="zh-CN" altLang="en-US" dirty="0"/>
              <a:t>   </a:t>
            </a:r>
            <a:r>
              <a:rPr lang="en-US" dirty="0"/>
              <a:t>│</a:t>
            </a:r>
          </a:p>
          <a:p>
            <a:pPr marL="0" indent="0">
              <a:buNone/>
            </a:pPr>
            <a:r>
              <a:rPr lang="en-US" dirty="0"/>
              <a:t>│ - compute Q/K/V for prompt  │</a:t>
            </a:r>
          </a:p>
          <a:p>
            <a:pPr marL="0" indent="0">
              <a:buNone/>
            </a:pPr>
            <a:r>
              <a:rPr lang="en-US" dirty="0"/>
              <a:t>│ - build initial KV cache           </a:t>
            </a:r>
            <a:r>
              <a:rPr lang="zh-CN" altLang="en-US" dirty="0"/>
              <a:t>   </a:t>
            </a:r>
            <a:r>
              <a:rPr lang="en-US" dirty="0"/>
              <a:t>│</a:t>
            </a:r>
          </a:p>
          <a:p>
            <a:pPr marL="0" indent="0">
              <a:buNone/>
            </a:pPr>
            <a:r>
              <a:rPr lang="en-US" dirty="0"/>
              <a:t>│ - generate first token y1         </a:t>
            </a:r>
            <a:r>
              <a:rPr lang="zh-CN" altLang="en-US" dirty="0"/>
              <a:t> </a:t>
            </a:r>
            <a:r>
              <a:rPr lang="en-US" dirty="0"/>
              <a:t>  │</a:t>
            </a:r>
          </a:p>
          <a:p>
            <a:pPr marL="0" indent="0">
              <a:buNone/>
            </a:pPr>
            <a:r>
              <a:rPr lang="en-US" dirty="0"/>
              <a:t>└─────────────────────────┘</a:t>
            </a:r>
          </a:p>
          <a:p>
            <a:pPr marL="0" indent="0">
              <a:buNone/>
            </a:pPr>
            <a:r>
              <a:rPr lang="en-US" dirty="0"/>
              <a:t>          |</a:t>
            </a:r>
          </a:p>
          <a:p>
            <a:pPr marL="0" indent="0">
              <a:buNone/>
            </a:pPr>
            <a:r>
              <a:rPr lang="en-US" dirty="0"/>
              <a:t>         v</a:t>
            </a:r>
          </a:p>
          <a:p>
            <a:pPr marL="0" indent="0">
              <a:buNone/>
            </a:pPr>
            <a:endParaRPr lang="en-US" dirty="0"/>
          </a:p>
        </p:txBody>
      </p:sp>
      <p:sp>
        <p:nvSpPr>
          <p:cNvPr id="5" name="Title 1">
            <a:extLst>
              <a:ext uri="{FF2B5EF4-FFF2-40B4-BE49-F238E27FC236}">
                <a16:creationId xmlns:a16="http://schemas.microsoft.com/office/drawing/2014/main" id="{FAEE0A27-3DFE-AC7A-CE72-D47E9889CDD1}"/>
              </a:ext>
            </a:extLst>
          </p:cNvPr>
          <p:cNvSpPr>
            <a:spLocks noGrp="1"/>
          </p:cNvSpPr>
          <p:nvPr>
            <p:ph type="title"/>
          </p:nvPr>
        </p:nvSpPr>
        <p:spPr>
          <a:xfrm>
            <a:off x="125930" y="105242"/>
            <a:ext cx="10515600" cy="838033"/>
          </a:xfrm>
        </p:spPr>
        <p:txBody>
          <a:bodyPr/>
          <a:lstStyle/>
          <a:p>
            <a:r>
              <a:rPr lang="en-US" dirty="0"/>
              <a:t>Prefill</a:t>
            </a:r>
          </a:p>
        </p:txBody>
      </p:sp>
      <p:sp>
        <p:nvSpPr>
          <p:cNvPr id="2" name="TextBox 1">
            <a:extLst>
              <a:ext uri="{FF2B5EF4-FFF2-40B4-BE49-F238E27FC236}">
                <a16:creationId xmlns:a16="http://schemas.microsoft.com/office/drawing/2014/main" id="{9F251C59-17D5-E245-729D-1CDEF1345991}"/>
              </a:ext>
            </a:extLst>
          </p:cNvPr>
          <p:cNvSpPr txBox="1"/>
          <p:nvPr/>
        </p:nvSpPr>
        <p:spPr>
          <a:xfrm>
            <a:off x="6096000" y="644893"/>
            <a:ext cx="5194434" cy="1754326"/>
          </a:xfrm>
          <a:prstGeom prst="rect">
            <a:avLst/>
          </a:prstGeom>
          <a:noFill/>
        </p:spPr>
        <p:txBody>
          <a:bodyPr wrap="square" rtlCol="0">
            <a:spAutoFit/>
          </a:bodyPr>
          <a:lstStyle/>
          <a:p>
            <a:r>
              <a:rPr lang="en-US" dirty="0"/>
              <a:t>What is the bottleneck of prefill?</a:t>
            </a:r>
          </a:p>
          <a:p>
            <a:pPr marL="285750" indent="-285750">
              <a:buFont typeface="Arial" panose="020B0604020202020204" pitchFamily="34" charset="0"/>
              <a:buChar char="•"/>
            </a:pPr>
            <a:r>
              <a:rPr lang="en-US" dirty="0"/>
              <a:t>compute</a:t>
            </a:r>
          </a:p>
          <a:p>
            <a:pPr marL="285750" indent="-285750">
              <a:buFont typeface="Arial" panose="020B0604020202020204" pitchFamily="34" charset="0"/>
              <a:buChar char="•"/>
            </a:pPr>
            <a:r>
              <a:rPr lang="en-US" dirty="0"/>
              <a:t>large attention computation</a:t>
            </a:r>
          </a:p>
          <a:p>
            <a:pPr marL="285750" indent="-285750">
              <a:buFont typeface="Arial" panose="020B0604020202020204" pitchFamily="34" charset="0"/>
              <a:buChar char="•"/>
            </a:pPr>
            <a:r>
              <a:rPr lang="en-US" dirty="0"/>
              <a:t>matrix multiplication</a:t>
            </a:r>
          </a:p>
          <a:p>
            <a:pPr marL="285750" indent="-285750">
              <a:buFont typeface="Arial" panose="020B0604020202020204" pitchFamily="34" charset="0"/>
              <a:buChar char="•"/>
            </a:pPr>
            <a:r>
              <a:rPr lang="en-US" dirty="0"/>
              <a:t>activation memory</a:t>
            </a:r>
          </a:p>
          <a:p>
            <a:pPr marL="285750" indent="-285750">
              <a:buFont typeface="Arial" panose="020B0604020202020204" pitchFamily="34" charset="0"/>
              <a:buChar char="•"/>
            </a:pPr>
            <a:r>
              <a:rPr lang="en-US" dirty="0"/>
              <a:t>prefill batch size</a:t>
            </a:r>
          </a:p>
        </p:txBody>
      </p:sp>
    </p:spTree>
    <p:extLst>
      <p:ext uri="{BB962C8B-B14F-4D97-AF65-F5344CB8AC3E}">
        <p14:creationId xmlns:p14="http://schemas.microsoft.com/office/powerpoint/2010/main" val="2307168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3BAC-14AF-EFC0-B72D-164C14C67D34}"/>
              </a:ext>
            </a:extLst>
          </p:cNvPr>
          <p:cNvSpPr>
            <a:spLocks noGrp="1"/>
          </p:cNvSpPr>
          <p:nvPr>
            <p:ph type="title"/>
          </p:nvPr>
        </p:nvSpPr>
        <p:spPr>
          <a:xfrm>
            <a:off x="145181" y="18255"/>
            <a:ext cx="10515600" cy="1325563"/>
          </a:xfrm>
        </p:spPr>
        <p:txBody>
          <a:bodyPr/>
          <a:lstStyle/>
          <a:p>
            <a:r>
              <a:rPr lang="en-US" dirty="0"/>
              <a:t>Decode</a:t>
            </a:r>
          </a:p>
        </p:txBody>
      </p:sp>
      <p:sp>
        <p:nvSpPr>
          <p:cNvPr id="3" name="Content Placeholder 2">
            <a:extLst>
              <a:ext uri="{FF2B5EF4-FFF2-40B4-BE49-F238E27FC236}">
                <a16:creationId xmlns:a16="http://schemas.microsoft.com/office/drawing/2014/main" id="{C88526ED-CD18-F3C3-8BE9-009818B30EDB}"/>
              </a:ext>
            </a:extLst>
          </p:cNvPr>
          <p:cNvSpPr>
            <a:spLocks noGrp="1"/>
          </p:cNvSpPr>
          <p:nvPr>
            <p:ph idx="1"/>
          </p:nvPr>
        </p:nvSpPr>
        <p:spPr>
          <a:xfrm>
            <a:off x="1697255" y="1174281"/>
            <a:ext cx="4398745" cy="5486400"/>
          </a:xfrm>
        </p:spPr>
        <p:txBody>
          <a:bodyPr>
            <a:normAutofit fontScale="70000" lnSpcReduction="20000"/>
          </a:bodyPr>
          <a:lstStyle/>
          <a:p>
            <a:pPr marL="0" indent="0">
              <a:buNone/>
            </a:pPr>
            <a:r>
              <a:rPr lang="en-US" dirty="0"/>
              <a:t>First token y1 + KV cache</a:t>
            </a:r>
          </a:p>
          <a:p>
            <a:pPr marL="0" indent="0">
              <a:buNone/>
            </a:pPr>
            <a:r>
              <a:rPr lang="en-US" dirty="0"/>
              <a:t>          |</a:t>
            </a:r>
          </a:p>
          <a:p>
            <a:pPr marL="0" indent="0">
              <a:buNone/>
            </a:pPr>
            <a:r>
              <a:rPr lang="en-US" dirty="0"/>
              <a:t>          v</a:t>
            </a:r>
          </a:p>
          <a:p>
            <a:pPr marL="0" indent="0">
              <a:buNone/>
            </a:pPr>
            <a:r>
              <a:rPr lang="en-US" dirty="0"/>
              <a:t>┌──────────────────────┐</a:t>
            </a:r>
          </a:p>
          <a:p>
            <a:pPr marL="0" indent="0">
              <a:buNone/>
            </a:pPr>
            <a:r>
              <a:rPr lang="en-US" dirty="0"/>
              <a:t>│ Decode step 1                      │</a:t>
            </a:r>
          </a:p>
          <a:p>
            <a:pPr marL="0" indent="0">
              <a:buNone/>
            </a:pPr>
            <a:r>
              <a:rPr lang="en-US" dirty="0"/>
              <a:t>│ - input y1                                 │</a:t>
            </a:r>
          </a:p>
          <a:p>
            <a:pPr marL="0" indent="0">
              <a:buNone/>
            </a:pPr>
            <a:r>
              <a:rPr lang="en-US" dirty="0"/>
              <a:t>│ - read cached K/V               │</a:t>
            </a:r>
          </a:p>
          <a:p>
            <a:pPr marL="0" indent="0">
              <a:buNone/>
            </a:pPr>
            <a:r>
              <a:rPr lang="en-US" dirty="0"/>
              <a:t>│ - generate y2                         │</a:t>
            </a:r>
          </a:p>
          <a:p>
            <a:pPr marL="0" indent="0">
              <a:buNone/>
            </a:pPr>
            <a:r>
              <a:rPr lang="en-US" dirty="0"/>
              <a:t>│ - append new K/V               │</a:t>
            </a:r>
          </a:p>
          <a:p>
            <a:pPr marL="0" indent="0">
              <a:buNone/>
            </a:pPr>
            <a:r>
              <a:rPr lang="en-US" dirty="0"/>
              <a:t>└──────────────────────┘</a:t>
            </a:r>
          </a:p>
          <a:p>
            <a:pPr marL="0" indent="0">
              <a:buNone/>
            </a:pPr>
            <a:r>
              <a:rPr lang="en-US" dirty="0"/>
              <a:t>          |</a:t>
            </a:r>
          </a:p>
          <a:p>
            <a:pPr marL="0" indent="0">
              <a:buNone/>
            </a:pPr>
            <a:r>
              <a:rPr lang="en-US" dirty="0"/>
              <a:t>          v</a:t>
            </a:r>
          </a:p>
          <a:p>
            <a:pPr marL="0" indent="0">
              <a:buNone/>
            </a:pPr>
            <a:r>
              <a:rPr lang="en-US" dirty="0"/>
              <a:t>Decode step 2 -&gt; y3</a:t>
            </a:r>
          </a:p>
          <a:p>
            <a:pPr marL="0" indent="0">
              <a:buNone/>
            </a:pPr>
            <a:r>
              <a:rPr lang="en-US" dirty="0"/>
              <a:t>          |</a:t>
            </a:r>
          </a:p>
          <a:p>
            <a:pPr marL="0" indent="0">
              <a:buNone/>
            </a:pPr>
            <a:r>
              <a:rPr lang="en-US" dirty="0"/>
              <a:t>          v</a:t>
            </a:r>
          </a:p>
          <a:p>
            <a:pPr marL="0" indent="0">
              <a:buNone/>
            </a:pPr>
            <a:r>
              <a:rPr lang="en-US" dirty="0"/>
              <a:t>Decode step 3 -&gt; y4</a:t>
            </a:r>
          </a:p>
        </p:txBody>
      </p:sp>
      <p:sp>
        <p:nvSpPr>
          <p:cNvPr id="4" name="TextBox 3">
            <a:extLst>
              <a:ext uri="{FF2B5EF4-FFF2-40B4-BE49-F238E27FC236}">
                <a16:creationId xmlns:a16="http://schemas.microsoft.com/office/drawing/2014/main" id="{1FE3B34A-1158-3705-7146-0E3A7751794E}"/>
              </a:ext>
            </a:extLst>
          </p:cNvPr>
          <p:cNvSpPr txBox="1"/>
          <p:nvPr/>
        </p:nvSpPr>
        <p:spPr>
          <a:xfrm>
            <a:off x="5932370" y="574116"/>
            <a:ext cx="456237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TPOT is the average time required to generate each token after the first token. </a:t>
            </a:r>
          </a:p>
          <a:p>
            <a:pPr marL="285750" indent="-285750">
              <a:buFont typeface="Arial" panose="020B0604020202020204" pitchFamily="34" charset="0"/>
              <a:buChar char="•"/>
            </a:pPr>
            <a:r>
              <a:rPr lang="en-US" dirty="0"/>
              <a:t>It mainly reflects the sustained generation speed of the decode stage.</a:t>
            </a:r>
          </a:p>
        </p:txBody>
      </p:sp>
      <p:sp>
        <p:nvSpPr>
          <p:cNvPr id="6" name="TextBox 5">
            <a:extLst>
              <a:ext uri="{FF2B5EF4-FFF2-40B4-BE49-F238E27FC236}">
                <a16:creationId xmlns:a16="http://schemas.microsoft.com/office/drawing/2014/main" id="{C7ED82AC-9772-3D0F-0726-A982E6164FB6}"/>
              </a:ext>
            </a:extLst>
          </p:cNvPr>
          <p:cNvSpPr txBox="1"/>
          <p:nvPr/>
        </p:nvSpPr>
        <p:spPr>
          <a:xfrm>
            <a:off x="5932370" y="2184935"/>
            <a:ext cx="4819049" cy="646331"/>
          </a:xfrm>
          <a:prstGeom prst="rect">
            <a:avLst/>
          </a:prstGeom>
          <a:noFill/>
        </p:spPr>
        <p:txBody>
          <a:bodyPr wrap="square" rtlCol="0">
            <a:spAutoFit/>
          </a:bodyPr>
          <a:lstStyle/>
          <a:p>
            <a:r>
              <a:rPr lang="en-US" dirty="0"/>
              <a:t>Unlike prefill, decode is sequential across output tokens. </a:t>
            </a:r>
          </a:p>
        </p:txBody>
      </p:sp>
      <p:sp>
        <p:nvSpPr>
          <p:cNvPr id="7" name="TextBox 6">
            <a:extLst>
              <a:ext uri="{FF2B5EF4-FFF2-40B4-BE49-F238E27FC236}">
                <a16:creationId xmlns:a16="http://schemas.microsoft.com/office/drawing/2014/main" id="{1C71E0AF-2E8F-49F8-70EC-4AF2486FFC7E}"/>
              </a:ext>
            </a:extLst>
          </p:cNvPr>
          <p:cNvSpPr txBox="1"/>
          <p:nvPr/>
        </p:nvSpPr>
        <p:spPr>
          <a:xfrm>
            <a:off x="5932370" y="3340961"/>
            <a:ext cx="4819049" cy="923330"/>
          </a:xfrm>
          <a:prstGeom prst="rect">
            <a:avLst/>
          </a:prstGeom>
          <a:noFill/>
        </p:spPr>
        <p:txBody>
          <a:bodyPr wrap="square" rtlCol="0">
            <a:spAutoFit/>
          </a:bodyPr>
          <a:lstStyle/>
          <a:p>
            <a:r>
              <a:rPr lang="en-US" dirty="0"/>
              <a:t>Decode is memory-bound: since input and output need HBM writing and read(KV cache and y</a:t>
            </a:r>
            <a:r>
              <a:rPr lang="en-US" baseline="-25000" dirty="0"/>
              <a:t>n-1</a:t>
            </a:r>
            <a:r>
              <a:rPr lang="en-US" dirty="0"/>
              <a:t>)</a:t>
            </a:r>
          </a:p>
        </p:txBody>
      </p:sp>
    </p:spTree>
    <p:extLst>
      <p:ext uri="{BB962C8B-B14F-4D97-AF65-F5344CB8AC3E}">
        <p14:creationId xmlns:p14="http://schemas.microsoft.com/office/powerpoint/2010/main" val="99340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F737-22CC-F1A9-7CFC-8F96BF86CBFF}"/>
              </a:ext>
            </a:extLst>
          </p:cNvPr>
          <p:cNvSpPr>
            <a:spLocks noGrp="1"/>
          </p:cNvSpPr>
          <p:nvPr>
            <p:ph type="title"/>
          </p:nvPr>
        </p:nvSpPr>
        <p:spPr/>
        <p:txBody>
          <a:bodyPr/>
          <a:lstStyle/>
          <a:p>
            <a:r>
              <a:rPr lang="en-US" dirty="0"/>
              <a:t>Difference between prefill and decode</a:t>
            </a:r>
          </a:p>
        </p:txBody>
      </p:sp>
      <p:pic>
        <p:nvPicPr>
          <p:cNvPr id="23" name="Picture 22">
            <a:extLst>
              <a:ext uri="{FF2B5EF4-FFF2-40B4-BE49-F238E27FC236}">
                <a16:creationId xmlns:a16="http://schemas.microsoft.com/office/drawing/2014/main" id="{9FC03DC8-EE93-9A0D-FD2C-B254489EE330}"/>
              </a:ext>
            </a:extLst>
          </p:cNvPr>
          <p:cNvPicPr>
            <a:picLocks noChangeAspect="1"/>
          </p:cNvPicPr>
          <p:nvPr/>
        </p:nvPicPr>
        <p:blipFill>
          <a:blip r:embed="rId2"/>
          <a:stretch>
            <a:fillRect/>
          </a:stretch>
        </p:blipFill>
        <p:spPr>
          <a:xfrm>
            <a:off x="868821" y="1886551"/>
            <a:ext cx="5227179" cy="4174056"/>
          </a:xfrm>
          <a:prstGeom prst="rect">
            <a:avLst/>
          </a:prstGeom>
        </p:spPr>
      </p:pic>
      <p:pic>
        <p:nvPicPr>
          <p:cNvPr id="24" name="Picture 23">
            <a:extLst>
              <a:ext uri="{FF2B5EF4-FFF2-40B4-BE49-F238E27FC236}">
                <a16:creationId xmlns:a16="http://schemas.microsoft.com/office/drawing/2014/main" id="{6ACAF707-9D50-DFD5-146E-290EB561C50B}"/>
              </a:ext>
            </a:extLst>
          </p:cNvPr>
          <p:cNvPicPr>
            <a:picLocks noChangeAspect="1"/>
          </p:cNvPicPr>
          <p:nvPr/>
        </p:nvPicPr>
        <p:blipFill>
          <a:blip r:embed="rId3"/>
          <a:stretch>
            <a:fillRect/>
          </a:stretch>
        </p:blipFill>
        <p:spPr>
          <a:xfrm>
            <a:off x="6329413" y="1886551"/>
            <a:ext cx="5317156" cy="4073563"/>
          </a:xfrm>
          <a:prstGeom prst="rect">
            <a:avLst/>
          </a:prstGeom>
        </p:spPr>
      </p:pic>
    </p:spTree>
    <p:extLst>
      <p:ext uri="{BB962C8B-B14F-4D97-AF65-F5344CB8AC3E}">
        <p14:creationId xmlns:p14="http://schemas.microsoft.com/office/powerpoint/2010/main" val="2376111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C8AAC-CCDA-77F2-D11F-3673029C4F97}"/>
              </a:ext>
            </a:extLst>
          </p:cNvPr>
          <p:cNvSpPr>
            <a:spLocks noGrp="1"/>
          </p:cNvSpPr>
          <p:nvPr>
            <p:ph type="title"/>
          </p:nvPr>
        </p:nvSpPr>
        <p:spPr>
          <a:xfrm>
            <a:off x="77804" y="1"/>
            <a:ext cx="10515600" cy="856648"/>
          </a:xfrm>
        </p:spPr>
        <p:txBody>
          <a:bodyPr/>
          <a:lstStyle/>
          <a:p>
            <a:r>
              <a:rPr lang="en-US" dirty="0"/>
              <a:t>concurrency</a:t>
            </a:r>
          </a:p>
        </p:txBody>
      </p:sp>
      <p:sp>
        <p:nvSpPr>
          <p:cNvPr id="5" name="AutoShape 4" descr="Concurrency vs Parallelism blog image">
            <a:extLst>
              <a:ext uri="{FF2B5EF4-FFF2-40B4-BE49-F238E27FC236}">
                <a16:creationId xmlns:a16="http://schemas.microsoft.com/office/drawing/2014/main" id="{E3F7828A-BD77-9A87-0B76-726FE30FFD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5794BF0-72A2-572F-B11C-74237BACF835}"/>
              </a:ext>
            </a:extLst>
          </p:cNvPr>
          <p:cNvPicPr>
            <a:picLocks noChangeAspect="1"/>
          </p:cNvPicPr>
          <p:nvPr/>
        </p:nvPicPr>
        <p:blipFill>
          <a:blip r:embed="rId2"/>
          <a:stretch>
            <a:fillRect/>
          </a:stretch>
        </p:blipFill>
        <p:spPr>
          <a:xfrm>
            <a:off x="4028975" y="1547266"/>
            <a:ext cx="7772400" cy="4068267"/>
          </a:xfrm>
          <a:prstGeom prst="rect">
            <a:avLst/>
          </a:prstGeom>
        </p:spPr>
      </p:pic>
      <p:sp>
        <p:nvSpPr>
          <p:cNvPr id="7" name="TextBox 6">
            <a:extLst>
              <a:ext uri="{FF2B5EF4-FFF2-40B4-BE49-F238E27FC236}">
                <a16:creationId xmlns:a16="http://schemas.microsoft.com/office/drawing/2014/main" id="{555129EB-B11D-163C-1A91-BCA15B945A8F}"/>
              </a:ext>
            </a:extLst>
          </p:cNvPr>
          <p:cNvSpPr txBox="1"/>
          <p:nvPr/>
        </p:nvSpPr>
        <p:spPr>
          <a:xfrm>
            <a:off x="597168" y="1636294"/>
            <a:ext cx="2926080" cy="2308324"/>
          </a:xfrm>
          <a:prstGeom prst="rect">
            <a:avLst/>
          </a:prstGeom>
          <a:noFill/>
        </p:spPr>
        <p:txBody>
          <a:bodyPr wrap="square" rtlCol="0">
            <a:spAutoFit/>
          </a:bodyPr>
          <a:lstStyle/>
          <a:p>
            <a:r>
              <a:rPr lang="en-US" dirty="0"/>
              <a:t>Concurrency = Multiple tasks are in progress at the same time.</a:t>
            </a:r>
          </a:p>
          <a:p>
            <a:endParaRPr lang="en-US" dirty="0"/>
          </a:p>
          <a:p>
            <a:r>
              <a:rPr lang="en-US" dirty="0"/>
              <a:t>Parallelism = Multiple tasks are physically executed at the exact same time.</a:t>
            </a:r>
          </a:p>
          <a:p>
            <a:endParaRPr lang="en-US" dirty="0"/>
          </a:p>
        </p:txBody>
      </p:sp>
    </p:spTree>
    <p:extLst>
      <p:ext uri="{BB962C8B-B14F-4D97-AF65-F5344CB8AC3E}">
        <p14:creationId xmlns:p14="http://schemas.microsoft.com/office/powerpoint/2010/main" val="1095678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AAAE-759E-4ED4-CB00-7FB3C0767C70}"/>
              </a:ext>
            </a:extLst>
          </p:cNvPr>
          <p:cNvSpPr>
            <a:spLocks noGrp="1"/>
          </p:cNvSpPr>
          <p:nvPr>
            <p:ph type="title"/>
          </p:nvPr>
        </p:nvSpPr>
        <p:spPr>
          <a:xfrm>
            <a:off x="275924" y="178719"/>
            <a:ext cx="10515600" cy="662782"/>
          </a:xfrm>
        </p:spPr>
        <p:txBody>
          <a:bodyPr>
            <a:normAutofit fontScale="90000"/>
          </a:bodyPr>
          <a:lstStyle/>
          <a:p>
            <a:r>
              <a:rPr lang="en-US" dirty="0"/>
              <a:t>concurrency</a:t>
            </a:r>
          </a:p>
        </p:txBody>
      </p:sp>
      <p:sp>
        <p:nvSpPr>
          <p:cNvPr id="5" name="TextBox 4">
            <a:extLst>
              <a:ext uri="{FF2B5EF4-FFF2-40B4-BE49-F238E27FC236}">
                <a16:creationId xmlns:a16="http://schemas.microsoft.com/office/drawing/2014/main" id="{0CA95A8D-6CE3-07F7-B11F-66132D8220F6}"/>
              </a:ext>
            </a:extLst>
          </p:cNvPr>
          <p:cNvSpPr txBox="1"/>
          <p:nvPr/>
        </p:nvSpPr>
        <p:spPr>
          <a:xfrm>
            <a:off x="423511" y="841501"/>
            <a:ext cx="10597416" cy="3970318"/>
          </a:xfrm>
          <a:prstGeom prst="rect">
            <a:avLst/>
          </a:prstGeom>
          <a:noFill/>
        </p:spPr>
        <p:txBody>
          <a:bodyPr wrap="square" rtlCol="0">
            <a:spAutoFit/>
          </a:bodyPr>
          <a:lstStyle/>
          <a:p>
            <a:r>
              <a:rPr lang="en-US" dirty="0"/>
              <a:t>Prefill:</a:t>
            </a:r>
          </a:p>
          <a:p>
            <a:r>
              <a:rPr lang="en-US" dirty="0"/>
              <a:t>1. Queueing Delay:</a:t>
            </a:r>
          </a:p>
          <a:p>
            <a:r>
              <a:rPr lang="en-US" dirty="0"/>
              <a:t>request arrives -&gt; waits in queue -&gt; prefill starts -&gt; first token</a:t>
            </a:r>
          </a:p>
          <a:p>
            <a:endParaRPr lang="en-US" dirty="0"/>
          </a:p>
          <a:p>
            <a:r>
              <a:rPr lang="en-US" dirty="0"/>
              <a:t>TTFT = queueing delay + prefill time + first-token overhead</a:t>
            </a:r>
          </a:p>
          <a:p>
            <a:endParaRPr lang="en-US" dirty="0"/>
          </a:p>
          <a:p>
            <a:r>
              <a:rPr lang="en-US" dirty="0"/>
              <a:t>2. Prefill Contention</a:t>
            </a:r>
          </a:p>
          <a:p>
            <a:r>
              <a:rPr lang="en-US" dirty="0"/>
              <a:t>Multiple requests may need to run prefill at the same time.</a:t>
            </a:r>
          </a:p>
          <a:p>
            <a:endParaRPr lang="en-US" dirty="0"/>
          </a:p>
          <a:p>
            <a:r>
              <a:rPr lang="en-US" dirty="0"/>
              <a:t>Prefill is compute-heavy because it processes the full prompt using large matrix operations.</a:t>
            </a:r>
          </a:p>
          <a:p>
            <a:endParaRPr lang="en-US" dirty="0"/>
          </a:p>
          <a:p>
            <a:r>
              <a:rPr lang="en-US" dirty="0"/>
              <a:t>3. Batching Delay</a:t>
            </a:r>
          </a:p>
          <a:p>
            <a:r>
              <a:rPr lang="en-US" dirty="0"/>
              <a:t>Some serving systems intentionally wait for a short time to collect more requests into a batch in order to improve throughput.</a:t>
            </a:r>
          </a:p>
        </p:txBody>
      </p:sp>
      <p:sp>
        <p:nvSpPr>
          <p:cNvPr id="6" name="TextBox 5">
            <a:extLst>
              <a:ext uri="{FF2B5EF4-FFF2-40B4-BE49-F238E27FC236}">
                <a16:creationId xmlns:a16="http://schemas.microsoft.com/office/drawing/2014/main" id="{E12157F4-EB10-9854-23D8-4529992AA45E}"/>
              </a:ext>
            </a:extLst>
          </p:cNvPr>
          <p:cNvSpPr txBox="1"/>
          <p:nvPr/>
        </p:nvSpPr>
        <p:spPr>
          <a:xfrm>
            <a:off x="490888" y="5014762"/>
            <a:ext cx="7760266" cy="646331"/>
          </a:xfrm>
          <a:prstGeom prst="rect">
            <a:avLst/>
          </a:prstGeom>
          <a:noFill/>
        </p:spPr>
        <p:txBody>
          <a:bodyPr wrap="none" rtlCol="0">
            <a:spAutoFit/>
          </a:bodyPr>
          <a:lstStyle/>
          <a:p>
            <a:r>
              <a:rPr lang="en-US" dirty="0"/>
              <a:t>Decode:</a:t>
            </a:r>
          </a:p>
          <a:p>
            <a:r>
              <a:rPr lang="en-US" dirty="0"/>
              <a:t>Concurrency can create batching opportunities, which improves parallelism.</a:t>
            </a:r>
          </a:p>
        </p:txBody>
      </p:sp>
    </p:spTree>
    <p:extLst>
      <p:ext uri="{BB962C8B-B14F-4D97-AF65-F5344CB8AC3E}">
        <p14:creationId xmlns:p14="http://schemas.microsoft.com/office/powerpoint/2010/main" val="3011021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4E1F-8D42-74B0-761C-4AF1A0CB7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4F941-3C4A-10F0-CE90-5C23878E52D7}"/>
              </a:ext>
            </a:extLst>
          </p:cNvPr>
          <p:cNvSpPr>
            <a:spLocks noGrp="1"/>
          </p:cNvSpPr>
          <p:nvPr>
            <p:ph type="title"/>
          </p:nvPr>
        </p:nvSpPr>
        <p:spPr>
          <a:xfrm>
            <a:off x="275924" y="193809"/>
            <a:ext cx="10515600" cy="662782"/>
          </a:xfrm>
        </p:spPr>
        <p:txBody>
          <a:bodyPr>
            <a:normAutofit fontScale="90000"/>
          </a:bodyPr>
          <a:lstStyle/>
          <a:p>
            <a:r>
              <a:rPr lang="en-US" dirty="0"/>
              <a:t>Simulation</a:t>
            </a:r>
          </a:p>
        </p:txBody>
      </p:sp>
      <p:pic>
        <p:nvPicPr>
          <p:cNvPr id="13314" name="Picture 2">
            <a:extLst>
              <a:ext uri="{FF2B5EF4-FFF2-40B4-BE49-F238E27FC236}">
                <a16:creationId xmlns:a16="http://schemas.microsoft.com/office/drawing/2014/main" id="{5F326D8A-3440-0C51-77AC-9E8B4885F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968" y="1983377"/>
            <a:ext cx="5493646" cy="3924033"/>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A2FA7E04-0CC3-FBD3-7174-1F8C78289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2388" y="2054325"/>
            <a:ext cx="5493646" cy="3924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283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723</Words>
  <Application>Microsoft Macintosh PowerPoint</Application>
  <PresentationFormat>Widescreen</PresentationFormat>
  <Paragraphs>126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Benchmarking</vt:lpstr>
      <vt:lpstr>LLM Pipeline</vt:lpstr>
      <vt:lpstr>Metrics</vt:lpstr>
      <vt:lpstr>Metrics -- Time to First Token (TTFT)</vt:lpstr>
      <vt:lpstr>Metrics -- Time Per Output Token (TPOT)</vt:lpstr>
      <vt:lpstr>Metrics -- Tokens Per Second (TPS) and Requests/sec</vt:lpstr>
      <vt:lpstr>Metrics -- End-to-End Request Latency (e2e_latency) </vt:lpstr>
      <vt:lpstr>Metrics – P95 </vt:lpstr>
      <vt:lpstr>Metrics -- summary</vt:lpstr>
      <vt:lpstr>Prefill</vt:lpstr>
      <vt:lpstr>Prefill</vt:lpstr>
      <vt:lpstr>Prefill</vt:lpstr>
      <vt:lpstr>Decode</vt:lpstr>
      <vt:lpstr>Difference between prefill and decode</vt:lpstr>
      <vt:lpstr>concurrency</vt:lpstr>
      <vt:lpstr>concurrency</vt:lpstr>
      <vt:lpstr>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Licheng Zheng</dc:creator>
  <cp:lastModifiedBy>Licheng Zheng</cp:lastModifiedBy>
  <cp:revision>1</cp:revision>
  <dcterms:created xsi:type="dcterms:W3CDTF">2026-06-17T14:50:06Z</dcterms:created>
  <dcterms:modified xsi:type="dcterms:W3CDTF">2026-06-17T20:06:18Z</dcterms:modified>
</cp:coreProperties>
</file>